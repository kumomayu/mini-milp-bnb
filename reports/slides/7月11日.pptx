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减少候选枚举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387985" y="1078865"/>
            <a:ext cx="6597650" cy="53035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D7D1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2650" y="1481455"/>
            <a:ext cx="1803400" cy="128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63"/>
                </a:solidFill>
              </a:rPr>
              <a:t>① 固定变量消元</a:t>
            </a:r>
            <a:endParaRPr lang="en-US" sz="1600" b="1" dirty="0">
              <a:solidFill>
                <a:srgbClr val="2E7D63"/>
              </a:solidFill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163320" y="1925320"/>
            <a:ext cx="5035550" cy="384175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1490" y="2576830"/>
            <a:ext cx="3839845" cy="38417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99490" y="3255010"/>
            <a:ext cx="2449830" cy="128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6A25"/>
                </a:solidFill>
              </a:rPr>
              <a:t>② 冗余删除 / 不可行判断</a:t>
            </a:r>
            <a:endParaRPr lang="en-US" sz="1600" b="1" dirty="0">
              <a:solidFill>
                <a:srgbClr val="B66A25"/>
              </a:solidFill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8915" y="3596640"/>
            <a:ext cx="4377055" cy="442595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5365" y="4187825"/>
            <a:ext cx="5412105" cy="34734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5365" y="4824095"/>
            <a:ext cx="1547495" cy="128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FB6"/>
                </a:solidFill>
              </a:rPr>
              <a:t>③ 上下界收紧</a:t>
            </a:r>
            <a:endParaRPr lang="en-US" sz="1600" b="1" dirty="0">
              <a:solidFill>
                <a:srgbClr val="2F6FB6"/>
              </a:solidFill>
            </a:endParaRPr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365" y="5036185"/>
            <a:ext cx="5412105" cy="64135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7338695" y="2576830"/>
          <a:ext cx="4079875" cy="2080260"/>
        </p:xfrm>
        <a:graphic>
          <a:graphicData uri="http://schemas.openxmlformats.org/drawingml/2006/table">
            <a:tbl>
              <a:tblPr/>
              <a:tblGrid>
                <a:gridCol w="1448435"/>
                <a:gridCol w="941705"/>
                <a:gridCol w="941070"/>
                <a:gridCol w="748665"/>
              </a:tblGrid>
              <a:tr h="520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2A44"/>
                          </a:solidFill>
                        </a:rPr>
                        <a:t>案例</a:t>
                      </a:r>
                      <a:endParaRPr lang="en-US" sz="12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2A44"/>
                          </a:solidFill>
                        </a:rPr>
                        <a:t>处理前</a:t>
                      </a:r>
                      <a:endParaRPr lang="en-US" sz="12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2A44"/>
                          </a:solidFill>
                        </a:rPr>
                        <a:t>处理后</a:t>
                      </a:r>
                      <a:endParaRPr lang="en-US" sz="12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2A44"/>
                          </a:solidFill>
                        </a:rPr>
                        <a:t>减少</a:t>
                      </a:r>
                      <a:endParaRPr lang="en-US" sz="12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固定启动成本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88,088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17,944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79.6%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极小机组组合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6,435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736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88.6%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 单元规模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3,459,330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455,764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86.8%</a:t>
                      </a:r>
                      <a:endParaRPr lang="en-US" sz="12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553" y="848487"/>
            <a:ext cx="21945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当前节点 LP</a:t>
            </a:r>
            <a:r>
              <a:rPr lang="zh-CN" altLang="en-US" sz="13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、枚举</a:t>
            </a:r>
            <a:r>
              <a:rPr lang="zh-CN" altLang="en-US" sz="13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zh-CN" altLang="en-US" sz="1300" b="1" dirty="0">
              <a:solidFill>
                <a:srgbClr val="0F2A4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62610" y="1186815"/>
            <a:ext cx="3272790" cy="32893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8680" y="2907792"/>
            <a:ext cx="2606040" cy="7772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285" y="1683512"/>
            <a:ext cx="2377440" cy="384048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855085" y="1812925"/>
          <a:ext cx="7455535" cy="4229100"/>
        </p:xfrm>
        <a:graphic>
          <a:graphicData uri="http://schemas.openxmlformats.org/drawingml/2006/table">
            <a:tbl>
              <a:tblPr/>
              <a:tblGrid>
                <a:gridCol w="2324100"/>
                <a:gridCol w="1839595"/>
                <a:gridCol w="1897380"/>
                <a:gridCol w="1394460"/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案例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0F2A44"/>
                          </a:solidFill>
                        </a:rPr>
                        <a:t>自制</a:t>
                      </a:r>
                      <a:endParaRPr lang="zh-CN" alt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SciPy-HiGHS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Gurobi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固定启动成本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0.069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0.007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&lt;0.001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极小机组组合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0.006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0.005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&lt;0.001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容量扩建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0.071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0.008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0.001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unit=5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1.706 / LIMIT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0.009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0.001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165" y="3356610"/>
            <a:ext cx="4966970" cy="1438275"/>
          </a:xfrm>
          <a:prstGeom prst="roundRect">
            <a:avLst>
              <a:gd name="adj" fmla="val 7619"/>
            </a:avLst>
          </a:prstGeom>
          <a:solidFill>
            <a:srgbClr val="F7FAFF"/>
          </a:solidFill>
          <a:ln w="10160">
            <a:solidFill>
              <a:srgbClr val="C9DB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335" y="3703320"/>
            <a:ext cx="4502785" cy="74485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子节点生成 → 求 LP 并保存 bound</a:t>
            </a:r>
            <a:endParaRPr lang="en-US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放入优先队列 → 取 bound 最优节点</a:t>
            </a:r>
            <a:endParaRPr lang="en-US" sz="2000" dirty="0">
              <a:solidFill>
                <a:srgbClr val="1F2937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897880" y="1640332"/>
            <a:ext cx="3291840" cy="53035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977890" y="2589530"/>
            <a:ext cx="3715385" cy="452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节点数对比</a:t>
            </a:r>
            <a:endParaRPr lang="en-US" sz="2400" b="1" dirty="0">
              <a:solidFill>
                <a:srgbClr val="0F2A4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5977890" y="3064510"/>
          <a:ext cx="5334000" cy="2021840"/>
        </p:xfrm>
        <a:graphic>
          <a:graphicData uri="http://schemas.openxmlformats.org/drawingml/2006/table">
            <a:tbl>
              <a:tblPr/>
              <a:tblGrid>
                <a:gridCol w="2101215"/>
                <a:gridCol w="1454785"/>
                <a:gridCol w="1778000"/>
              </a:tblGrid>
              <a:tr h="505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规模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DFS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2A44"/>
                          </a:solidFill>
                        </a:rPr>
                        <a:t>best-bound</a:t>
                      </a:r>
                      <a:endParaRPr lang="en-US" sz="16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units=2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units=3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units=4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13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13</a:t>
                      </a:r>
                      <a:endParaRPr lang="en-US" sz="16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27"/>
          <p:cNvSpPr/>
          <p:nvPr>
            <p:custDataLst>
              <p:tags r:id="rId2"/>
            </p:custDataLst>
          </p:nvPr>
        </p:nvSpPr>
        <p:spPr>
          <a:xfrm>
            <a:off x="1285875" y="1544955"/>
            <a:ext cx="3715385" cy="452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p>
            <a:pPr marL="0" indent="0" algn="ctr">
              <a:buNone/>
            </a:pPr>
            <a:r>
              <a:rPr lang="zh-CN" altLang="en-US" sz="24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</a:t>
            </a:r>
            <a:r>
              <a:rPr lang="en-US" altLang="zh-CN" sz="24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-&gt; </a:t>
            </a:r>
            <a:r>
              <a:rPr lang="zh-CN" altLang="en-US" sz="24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</a:t>
            </a:r>
            <a:r>
              <a:rPr lang="zh-CN" altLang="en-US" sz="24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</a:t>
            </a:r>
            <a:endParaRPr lang="zh-CN" altLang="en-US" sz="2400" b="1" dirty="0">
              <a:solidFill>
                <a:srgbClr val="0F2A4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705" y="1494790"/>
            <a:ext cx="3926205" cy="33655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综合求解结果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87705" y="1988820"/>
          <a:ext cx="10614660" cy="2641600"/>
        </p:xfrm>
        <a:graphic>
          <a:graphicData uri="http://schemas.openxmlformats.org/drawingml/2006/table">
            <a:tbl>
              <a:tblPr/>
              <a:tblGrid>
                <a:gridCol w="1741170"/>
                <a:gridCol w="1516380"/>
                <a:gridCol w="1516380"/>
                <a:gridCol w="1741170"/>
                <a:gridCol w="1403985"/>
                <a:gridCol w="1459865"/>
                <a:gridCol w="1235710"/>
              </a:tblGrid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案例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active-set 状态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active-set 时间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SciPy-HiGHS 状态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SciPy 时间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Gurobi 状态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A44"/>
                          </a:solidFill>
                        </a:rPr>
                        <a:t>Gurobi 时间</a:t>
                      </a:r>
                      <a:endParaRPr lang="en-US" sz="1400" b="1" dirty="0">
                        <a:solidFill>
                          <a:srgbClr val="0F2A44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固定启动成本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0.069s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0.007s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&lt;0.001s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极小机组组合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0.006s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0.005s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&lt;0.001s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容量扩建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0.071s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0.008s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0.001s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units=5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LIMIT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1.706s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0.009s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optimal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0.001s</a:t>
                      </a:r>
                      <a:endParaRPr lang="en-US" sz="1400" dirty="0">
                        <a:solidFill>
                          <a:srgbClr val="1F2937"/>
                        </a:solidFill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7705" y="4787900"/>
            <a:ext cx="10894060" cy="31432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A6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LIMIT：达到 active-set 候选组合上限</a:t>
            </a:r>
            <a:endParaRPr lang="en-US" sz="103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21*163"/>
  <p:tag name="TABLE_ENDDRAG_RECT" val="656*181*321*163"/>
</p:tagLst>
</file>

<file path=ppt/tags/tag2.xml><?xml version="1.0" encoding="utf-8"?>
<p:tagLst xmlns:p="http://schemas.openxmlformats.org/presentationml/2006/main">
  <p:tag name="TABLE_ENDDRAG_ORIGIN_RECT" val="587*332"/>
  <p:tag name="TABLE_ENDDRAG_RECT" val="303*121*587*332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WPS 表格</Application>
  <PresentationFormat>On-screen Show (16:9)</PresentationFormat>
  <Paragraphs>187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等线</vt:lpstr>
      <vt:lpstr>汉仪中等线KW</vt:lpstr>
      <vt:lpstr>微软雅黑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MILP 分支定界求解器阶段进展</dc:title>
  <dc:creator>OpenAI</dc:creator>
  <dc:subject>MILP B&amp;B progress</dc:subject>
  <cp:lastModifiedBy>WPS_1732859502</cp:lastModifiedBy>
  <cp:revision>10</cp:revision>
  <dcterms:created xsi:type="dcterms:W3CDTF">2026-07-18T11:11:49Z</dcterms:created>
  <dcterms:modified xsi:type="dcterms:W3CDTF">2026-07-18T11:11:49Z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720C74E9B042BFB1C426526A3433F894_43</vt:lpwstr>
  </property>
  <property fmtid="{D5CDD505-2E9C-101B-9397-08002B2CF9AE}" pid="3" name="KSOProductBuildVer">
    <vt:lpwstr>2052-6.7.1.8828</vt:lpwstr>
  </property>
</Properties>
</file>