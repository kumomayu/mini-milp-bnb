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3.xml"/><Relationship Id="rId8" Type="http://schemas.openxmlformats.org/officeDocument/2006/relationships/image" Target="../media/image6.svg"/><Relationship Id="rId7" Type="http://schemas.openxmlformats.org/officeDocument/2006/relationships/tags" Target="../tags/tag2.xml"/><Relationship Id="rId6" Type="http://schemas.openxmlformats.org/officeDocument/2006/relationships/image" Target="../media/image5.svg"/><Relationship Id="rId5" Type="http://schemas.openxmlformats.org/officeDocument/2006/relationships/tags" Target="../tags/tag1.xml"/><Relationship Id="rId4" Type="http://schemas.openxmlformats.org/officeDocument/2006/relationships/image" Target="../media/image4.svg"/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8.png"/><Relationship Id="rId13" Type="http://schemas.openxmlformats.org/officeDocument/2006/relationships/tags" Target="../tags/tag6.xml"/><Relationship Id="rId12" Type="http://schemas.openxmlformats.org/officeDocument/2006/relationships/tags" Target="../tags/tag5.xml"/><Relationship Id="rId11" Type="http://schemas.openxmlformats.org/officeDocument/2006/relationships/tags" Target="../tags/tag4.xml"/><Relationship Id="rId10" Type="http://schemas.openxmlformats.org/officeDocument/2006/relationships/image" Target="../media/image7.svg"/><Relationship Id="rId1" Type="http://schemas.openxmlformats.org/officeDocument/2006/relationships/image" Target="../media/image1.sv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 w="12700">
            <a:solidFill>
              <a:srgbClr val="F6F2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1B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统一输入形式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13816"/>
            <a:ext cx="11155680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095" y="1412875"/>
            <a:ext cx="5175885" cy="4741545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3415" y="1659890"/>
            <a:ext cx="676910" cy="243205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440" y="1710055"/>
            <a:ext cx="539115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主接口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717550" y="2080260"/>
            <a:ext cx="3916045" cy="452755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430" y="2875915"/>
            <a:ext cx="2828290" cy="452755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415" y="3671570"/>
            <a:ext cx="4264025" cy="45275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49670" y="1412875"/>
            <a:ext cx="5523865" cy="4741545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523990" y="1659890"/>
            <a:ext cx="1085215" cy="243205"/>
          </a:xfrm>
          <a:prstGeom prst="roundRect">
            <a:avLst>
              <a:gd name="adj" fmla="val 28571"/>
            </a:avLst>
          </a:prstGeom>
          <a:solidFill>
            <a:srgbClr val="E6F3F1"/>
          </a:solidFill>
          <a:ln w="12700">
            <a:solidFill>
              <a:srgbClr val="E6F3F1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597015" y="1710055"/>
            <a:ext cx="94869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内部统一表示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3990" y="2248535"/>
            <a:ext cx="5179695" cy="78359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651500" y="3772535"/>
            <a:ext cx="490855" cy="635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headEnd type="none"/>
            <a:tailEnd type="triangle"/>
          </a:ln>
        </p:spPr>
      </p:sp>
      <p:pic>
        <p:nvPicPr>
          <p:cNvPr id="21" name="Image 0" descr="preencoded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71335" y="3314573"/>
            <a:ext cx="1828800" cy="411480"/>
          </a:xfrm>
          <a:prstGeom prst="rect">
            <a:avLst/>
          </a:prstGeom>
        </p:spPr>
      </p:pic>
      <p:pic>
        <p:nvPicPr>
          <p:cNvPr id="22" name="Image 1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01760" y="3232785"/>
            <a:ext cx="2594610" cy="452755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71335" y="4478020"/>
            <a:ext cx="1600200" cy="438912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6523990" y="3869055"/>
            <a:ext cx="960120" cy="255270"/>
            <a:chOff x="8179" y="2117"/>
            <a:chExt cx="1512" cy="402"/>
          </a:xfrm>
        </p:grpSpPr>
        <p:sp>
          <p:nvSpPr>
            <p:cNvPr id="24" name="Shape 11"/>
            <p:cNvSpPr/>
            <p:nvPr>
              <p:custDataLst>
                <p:tags r:id="rId11"/>
              </p:custDataLst>
            </p:nvPr>
          </p:nvSpPr>
          <p:spPr>
            <a:xfrm>
              <a:off x="8179" y="2117"/>
              <a:ext cx="1512" cy="403"/>
            </a:xfrm>
            <a:prstGeom prst="roundRect">
              <a:avLst>
                <a:gd name="adj" fmla="val 28571"/>
              </a:avLst>
            </a:prstGeom>
            <a:solidFill>
              <a:srgbClr val="E6F3F1"/>
            </a:solidFill>
            <a:ln w="12700">
              <a:solidFill>
                <a:srgbClr val="E6F3F1">
                  <a:alpha val="0"/>
                </a:srgbClr>
              </a:solidFill>
              <a:prstDash val="solid"/>
            </a:ln>
          </p:spPr>
        </p:sp>
        <p:sp>
          <p:nvSpPr>
            <p:cNvPr id="25" name="Text 12"/>
            <p:cNvSpPr/>
            <p:nvPr>
              <p:custDataLst>
                <p:tags r:id="rId12"/>
              </p:custDataLst>
            </p:nvPr>
          </p:nvSpPr>
          <p:spPr>
            <a:xfrm>
              <a:off x="8294" y="2196"/>
              <a:ext cx="1282" cy="2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p>
              <a:pPr marL="0" indent="0" algn="ctr">
                <a:buNone/>
              </a:pPr>
              <a:r>
                <a:rPr lang="en-US" sz="850" b="1" dirty="0">
                  <a:solidFill>
                    <a:srgbClr val="0F766E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统一不等式</a:t>
              </a:r>
              <a:endParaRPr lang="en-US" sz="850" dirty="0"/>
            </a:p>
          </p:txBody>
        </p:sp>
      </p:grpSp>
      <p:sp>
        <p:nvSpPr>
          <p:cNvPr id="28" name="Text 19"/>
          <p:cNvSpPr/>
          <p:nvPr>
            <p:custDataLst>
              <p:tags r:id="rId13"/>
            </p:custDataLst>
          </p:nvPr>
        </p:nvSpPr>
        <p:spPr>
          <a:xfrm>
            <a:off x="8884920" y="4632452"/>
            <a:ext cx="2514600" cy="146304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p>
            <a:pPr marL="0" indent="0">
              <a:buNone/>
            </a:pPr>
            <a:r>
              <a:rPr lang="en-US" sz="1600" dirty="0">
                <a:solidFill>
                  <a:srgbClr val="0E1B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枚举 n 条活跃约束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B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解交点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B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检查全部约束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E1B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取目标值最大可行顶点</a:t>
            </a:r>
            <a:endParaRPr lang="en-US" sz="1600" dirty="0">
              <a:solidFill>
                <a:srgbClr val="0E1B2A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pic>
        <p:nvPicPr>
          <p:cNvPr id="4" name="图片 3" descr="截屏2026-06-06 19.04.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4920" y="3773170"/>
            <a:ext cx="2514600" cy="9626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 w="12700">
            <a:solidFill>
              <a:srgbClr val="F6F2E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/>
              <a:t>MILP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813816"/>
            <a:ext cx="11155680" cy="0"/>
          </a:xfrm>
          <a:prstGeom prst="line">
            <a:avLst/>
          </a:prstGeom>
          <a:noFill/>
          <a:ln w="12700">
            <a:solidFill>
              <a:srgbClr val="D8D1C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060704"/>
            <a:ext cx="534924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3502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385316"/>
            <a:ext cx="6766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分支规则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1078992" y="1847088"/>
            <a:ext cx="3291840" cy="475488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2697480"/>
            <a:ext cx="4297680" cy="50292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832" y="3675888"/>
            <a:ext cx="3840480" cy="475488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832" y="4407408"/>
            <a:ext cx="3840480" cy="4754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5285232"/>
            <a:ext cx="4114800" cy="347472"/>
          </a:xfrm>
          <a:prstGeom prst="rect">
            <a:avLst/>
          </a:prstGeom>
          <a:noFill/>
        </p:spPr>
        <p:txBody>
          <a:bodyPr wrap="square" lIns="508" tIns="508" rIns="508" bIns="508" rtlCol="0" anchor="t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6973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两个子节点覆盖所有整数可能性，同时排除当前小数解。</a:t>
            </a:r>
            <a:endParaRPr lang="en-US" sz="1320" dirty="0"/>
          </a:p>
        </p:txBody>
      </p:sp>
      <p:sp>
        <p:nvSpPr>
          <p:cNvPr id="14" name="Shape 8"/>
          <p:cNvSpPr/>
          <p:nvPr/>
        </p:nvSpPr>
        <p:spPr>
          <a:xfrm>
            <a:off x="6291072" y="1060704"/>
            <a:ext cx="5349240" cy="5166360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29" name="图片 28" descr="截屏2026-06-06 18.55.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945" y="3037840"/>
            <a:ext cx="5010150" cy="1211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 w="12700">
            <a:solidFill>
              <a:srgbClr val="F6F2EA">
                <a:alpha val="0"/>
              </a:srgbClr>
            </a:solidFill>
            <a:prstDash val="solid"/>
          </a:ln>
        </p:spPr>
      </p:sp>
      <p:pic>
        <p:nvPicPr>
          <p:cNvPr id="4" name="图片 3" descr="截屏2026-06-06 19.17.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785" y="2152650"/>
            <a:ext cx="4013200" cy="2311400"/>
          </a:xfrm>
          <a:prstGeom prst="rect">
            <a:avLst/>
          </a:prstGeom>
        </p:spPr>
      </p:pic>
      <p:pic>
        <p:nvPicPr>
          <p:cNvPr id="15" name="图片 14" descr="截屏2026-06-06 19.17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985" y="2152650"/>
            <a:ext cx="3766820" cy="2311400"/>
          </a:xfrm>
          <a:prstGeom prst="rect">
            <a:avLst/>
          </a:prstGeom>
        </p:spPr>
      </p:pic>
      <p:pic>
        <p:nvPicPr>
          <p:cNvPr id="16" name="图片 15" descr="截屏2026-06-06 19.17.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805" y="2152650"/>
            <a:ext cx="3775710" cy="2311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</Words>
  <Application>WPS 演示</Application>
  <PresentationFormat>On-screen Show (16:9)</PresentationFormat>
  <Paragraphs>19</Paragraphs>
  <Slides>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微软雅黑</vt:lpstr>
      <vt:lpstr>宋体</vt:lpstr>
      <vt:lpstr>Arial Unicode MS</vt:lpstr>
      <vt:lpstr>等线</vt:lpstr>
      <vt:lpstr>汉仪中等线KW</vt:lpstr>
      <vt:lpstr>汉仪书宋二KW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小型 MILP 分支定界求解器</dc:title>
  <dc:creator>OpenAI</dc:creator>
  <dc:subject>Mini MILP B&amp;B solver compact presentation</dc:subject>
  <cp:lastModifiedBy>WPS_1732859502</cp:lastModifiedBy>
  <cp:revision>7</cp:revision>
  <dcterms:created xsi:type="dcterms:W3CDTF">2026-06-06T11:18:33Z</dcterms:created>
  <dcterms:modified xsi:type="dcterms:W3CDTF">2026-06-06T11:18:33Z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1FE3E41C97C898E1FEF9236A3BC129B9_42</vt:lpwstr>
  </property>
  <property fmtid="{D5CDD505-2E9C-101B-9397-08002B2CF9AE}" pid="3" name="KSOProductBuildVer">
    <vt:lpwstr>2052-6.7.1.8828</vt:lpwstr>
  </property>
</Properties>
</file>